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Pearson 相關係數（與利潤）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0BEC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R&amp;D Spend</c:v>
                  </c:pt>
                  <c:pt idx="1">
                    <c:v>Marketing Spend</c:v>
                  </c:pt>
                  <c:pt idx="2">
                    <c:v>Administration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0.9729</c:v>
                </c:pt>
                <c:pt idx="1">
                  <c:v>0.7478</c:v>
                </c:pt>
                <c:pt idx="2">
                  <c:v>0.2007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每 $1 支出對利潤的影響（$）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535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R&amp;D Spend</c:v>
                  </c:pt>
                  <c:pt idx="1">
                    <c:v>Marketing</c:v>
                  </c:pt>
                  <c:pt idx="2">
                    <c:v>Admin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0.8056</c:v>
                </c:pt>
                <c:pt idx="1">
                  <c:v>0.0299</c:v>
                </c:pt>
                <c:pt idx="2">
                  <c:v>-0.0688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-0.1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開場：這份報告的目標——用資料科學方法幫助投資人客觀評估新創公司的利潤驅動因素。
本報告遵循 CRISP-DM 標準流程，從商業問題出發，最終產出可落地的投資建議。
預計時間：15-20 分鐘，最後留時間問答。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簡報架構說明：今天的分析完全遵循 CRISP-DM（跨行業資料探勘標準流程），從商業問題出發，到最終的投資建議，每個環節都有清楚的依據。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商業背景：這50家公司分布在美國三個州。
投資人想知道：在有限資金下，應優先支持哪類支出結構的公司？
成功標準：CV R² ≥ 0.90，MAE ≤ $10,000。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資料品質良好：無缺失值，無重複列。
50筆是小樣本，模型評估特別重視交叉驗證 (CV)。
利潤範圍 $15K 到 $192K，差距顯著。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R&amp;D Spend r = 0.97——一家公司砸多少錢在研發，幾乎決定了它能賺多少。
Marketing r = 0.75，有意義但次要。
Administration r = 0.20，基本上跟利潤沒什麼關係。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這張圖是整份報告最重要的一張。
X軸是R&amp;D支出，Y軸是利潤——幾乎是完美的線性關係。
如果你只能看一個指標，就看研發投入。
每多投入 $1 R&amp;D，利潤預計增加 $0.81。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Leakage 防護是最重要的點——用 Pipeline 確保 scaler 不接觸測試集資訊。
這個環節直接影響模型評估的公正性。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線性迴歸：係數直接是美元，$0.81 就是 $0.81，商業上很直觀。
Lasso：加入懲罰項，無用特徵係數被壓縮到零。
兩個模型結果幾乎一樣——說明結論非常穩健。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把係數翻譯成人話：
R&amp;D：每多花 $1，平均多賺 $0.81。ROI 非常高。
Marketing：每多花 $1，只多賺 $0.03。
Administration：每多花 $1，利潤反而減少 $0.07。
投資啟示：優先投資研發密集型新創，嚴控行政開銷。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兩個模型表現幾乎完全一樣——結論非常穩健。
CV R² = 0.93：模型可解釋 93% 的利潤變化。
MAE = $6,961：平均誤差不到 $7,000，兩個成功標準都達標。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大部分點非常靠近對角線，說明模型預測準確。
高利潤端（右上角）有輕微低估——這在迴歸模型中很常見。
兩個模型的點幾乎重疊，互相驗證。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核心結論：
洞察一：R&amp;D 才是真正的利潤引擎。
洞察二：行政費用過高在消耗利潤。精實管理很重要。
洞察三：公司在哪個州對利潤影響很小。
這三個洞察直接回答了 Phase 1 的商業問題。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— 篩選標準：先看 R&amp;D 比率就能快速判斷獲利潛力。
B — 盡職調查：行政費用高需要解釋是規模化投入還是管理效率低落。
C — 預測工具：這個模型可以直接用，輸入三個數字得到利潤估算。
感謝大家，歡迎提問！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926080" cy="347472"/>
          </a:xfrm>
          <a:prstGeom prst="roundRect">
            <a:avLst>
              <a:gd name="adj" fmla="val 13158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CRISP-DM 完整分析報告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Startups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利潤預測分析報告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32004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918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EB4D0"/>
                </a:solidFill>
              </a:rPr>
              <a:t>線性迴歸  ·  CV R² = 0.93  ·  混合技術與商業視角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今日議程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7589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822960" y="1325880"/>
            <a:ext cx="731520" cy="7315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4505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商業理解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投資問題定義與分析目標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32588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57400" y="21945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Phase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57400" y="24505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資料理解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57400" y="2788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50家公司的數據探索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0" y="132588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49040" y="21945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Phase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49040" y="24505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資料前處理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49040" y="2788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特徵工程與防止資料洩漏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97880" y="1325880"/>
            <a:ext cx="731520" cy="7315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40680" y="21945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Phase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40680" y="24505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建模分析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2788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線性迴歸 + Lasso 正則化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89520" y="132588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32320" y="21945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Phase 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0" y="24505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評估與建議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32320" y="2788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模型表現與商業洞察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0" y="438912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0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0" y="440740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資料集：50_Startups.csv  |  工具：Python / scikit-learn / pandas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 — 商業理解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投資人的核心問題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0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8988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研發、行政、行銷——三類支出對新創利潤的影響力各有多大？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334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任務類型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監督式學習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迴歸分析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291840" y="25603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6334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目標變數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2971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Profit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年度利潤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26480" y="25603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6334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成功標準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2971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CV R² ≥ 0.90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MAE ≤ $10,000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特徵變數：R&amp;D Spend  |  Administration  |  Marketing Spend  |  State（NY / CA / FL）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 — 資料理解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資料集概覽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F0F5F9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356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樣本數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</a:rPr>
              <a:t>50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2212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家新創公司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37160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F0F5F9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4356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特徵數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1691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</a:rPr>
              <a:t>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14600" y="2212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輸入變數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37160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F0F5F9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14356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缺失值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1691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</a:rPr>
              <a:t>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17720" y="2212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資料完整無缺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137160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F0F5F9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14356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平均利潤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20840" y="1691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</a:rPr>
              <a:t>$112K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720840" y="2212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標準差 $40K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788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變數說明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54680"/>
          <a:ext cx="8229600" cy="173736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2560320"/>
                <a:gridCol w="2468880"/>
              </a:tblGrid>
              <a:tr h="289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變數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類型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範圍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角色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R&amp;D Spend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數值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$0 — $165,349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特徵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Administration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數值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$51,283 — $182,646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特徵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Marketing Spend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數值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$0 — $471,784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特徵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類別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NY / CA / FL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特徵（OHE）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Profit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數值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$14,681 — $192,262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目標變數 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 — 相關性分析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哪個因素最能預測利潤？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49377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371600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0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50992" y="1481328"/>
            <a:ext cx="777240" cy="841248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50992" y="1481328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 = 0.97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537960" y="14813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R&amp;D Spend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37960" y="18288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極強正相關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幾乎決定利潤高低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577840" y="2578608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0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50992" y="2688336"/>
            <a:ext cx="777240" cy="841248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50992" y="2688336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 = 0.75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37960" y="26883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Marketing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37960" y="303580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中強正相關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有輔助效果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577840" y="3785616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0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50992" y="3895344"/>
            <a:ext cx="777240" cy="841248"/>
          </a:xfrm>
          <a:prstGeom prst="roundRect">
            <a:avLst>
              <a:gd name="adj" fmla="val 7059"/>
            </a:avLst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50992" y="3895344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 = 0.20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537960" y="38953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Administration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537960" y="424281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極弱相關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幾乎無預測力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 — 核心發現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R&amp;D 投入愈高，利潤愈高</a:t>
            </a:r>
            <a:endParaRPr lang="en-US" sz="3200" dirty="0"/>
          </a:p>
        </p:txBody>
      </p:sp>
      <p:pic>
        <p:nvPicPr>
          <p:cNvPr id="5" name="Image 0" descr="D:/RJH/github/Kaggle 50 startups_2/charts/03_scatter_rd_pro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98448"/>
            <a:ext cx="5486400" cy="35021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0" y="137160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0" y="14173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相關係數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17920" y="171907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0.97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6217920" y="265176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2697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E1CB"/>
                </a:solidFill>
              </a:rPr>
              <a:t>每增加 $1 R&amp;D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17920" y="299923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利潤 +$0.81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217920" y="39319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0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0" y="39776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最強利潤驅動因素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17920" y="42519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遠超行銷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與行政支出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 — 資料前處理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資料前處理步驟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4069080" cy="1389888"/>
          </a:xfrm>
          <a:prstGeom prst="roundRect">
            <a:avLst>
              <a:gd name="adj" fmla="val 6579"/>
            </a:avLst>
          </a:prstGeom>
          <a:solidFill>
            <a:srgbClr val="F0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1527048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527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5087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One-Hot Encoding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920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將 State 類別轉為虛擬變數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California 作為基準（drop_first）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069080" cy="1389888"/>
          </a:xfrm>
          <a:prstGeom prst="roundRect">
            <a:avLst>
              <a:gd name="adj" fmla="val 6579"/>
            </a:avLst>
          </a:prstGeom>
          <a:solidFill>
            <a:srgbClr val="F0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527048"/>
            <a:ext cx="594360" cy="5943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527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5087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Train / Test Split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32120" y="1920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80:20 分割（40筆訓練 / 10筆測試）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random_state=42 確保可重現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971800"/>
            <a:ext cx="4069080" cy="1389888"/>
          </a:xfrm>
          <a:prstGeom prst="roundRect">
            <a:avLst>
              <a:gd name="adj" fmla="val 6579"/>
            </a:avLst>
          </a:prstGeom>
          <a:solidFill>
            <a:srgbClr val="F0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3081528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0815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0632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StandardScaler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474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Lasso Pipeline 內部標準化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每個 CV fold 獨立 fit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971800"/>
            <a:ext cx="4069080" cy="1389888"/>
          </a:xfrm>
          <a:prstGeom prst="roundRect">
            <a:avLst>
              <a:gd name="adj" fmla="val 6579"/>
            </a:avLst>
          </a:prstGeom>
          <a:solidFill>
            <a:srgbClr val="F0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28032" y="3081528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30815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30632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Data Leakage 防護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32120" y="3474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Lasso 使用 Pipeline 架構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確保 scaler 不接觸測試集資訊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553712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57200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最終特徵（5個）：R&amp;D Spend  ·  Administration  ·  Marketing Spend  ·  State_Florida  ·  State_New York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4 — 建模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兩種模型，互相驗證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977640" cy="3520440"/>
          </a:xfrm>
          <a:prstGeom prst="roundRect">
            <a:avLst>
              <a:gd name="adj" fmla="val 3117"/>
            </a:avLst>
          </a:prstGeom>
          <a:solidFill>
            <a:srgbClr val="F0F5F9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3977640" cy="82296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線性迴歸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8013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Linear Regression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39572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係數直接對應美元單位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結果可直接商業解讀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735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無正則化（多元共線性風險）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71246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適合強線性關係小樣本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15137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推薦：商業報告、投資溝通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1371600"/>
            <a:ext cx="3977640" cy="3520440"/>
          </a:xfrm>
          <a:prstGeom prst="roundRect">
            <a:avLst>
              <a:gd name="adj" fmla="val 3117"/>
            </a:avLst>
          </a:prstGeom>
          <a:solidFill>
            <a:srgbClr val="F0F5F9"/>
          </a:solidFill>
          <a:ln w="12700">
            <a:solidFill>
              <a:srgbClr val="9FE1C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371600"/>
            <a:ext cx="3977640" cy="82296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4173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Lasso 迴歸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92040" y="18013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E1CB"/>
                </a:solidFill>
              </a:rPr>
              <a:t>Lasso (alpha=1.0) + Pipeline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239572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L1 正則化，自動特徵選擇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83464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無用特徵係數可歸零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32735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Pipeline 確保無資料洩漏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371246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係數需反標準化才能解讀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415137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推薦：特徵選擇、正則化驗證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60520" y="278892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0520" y="2788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VS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4 — 商業解讀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每投入 $1，利潤影響有多大？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0292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417320"/>
            <a:ext cx="3063240" cy="1042416"/>
          </a:xfrm>
          <a:prstGeom prst="roundRect">
            <a:avLst>
              <a:gd name="adj" fmla="val 877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0" y="149047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最高投報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852160" y="17373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+$1 R&amp;D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52160" y="201168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+$0.81 利潤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760720" y="2587752"/>
            <a:ext cx="3063240" cy="1042416"/>
          </a:xfrm>
          <a:prstGeom prst="roundRect">
            <a:avLst>
              <a:gd name="adj" fmla="val 877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52160" y="266090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</a:rPr>
              <a:t>輔助效果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52160" y="29077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1CB"/>
                </a:solidFill>
              </a:rPr>
              <a:t>+$1 行銷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852160" y="318211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+$0.03 利潤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760720" y="3758184"/>
            <a:ext cx="3063240" cy="1042416"/>
          </a:xfrm>
          <a:prstGeom prst="roundRect">
            <a:avLst>
              <a:gd name="adj" fmla="val 8772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52160" y="383133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DD2"/>
                </a:solidFill>
              </a:rPr>
              <a:t>成本負擔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852160" y="407822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DD2"/>
                </a:solidFill>
              </a:rPr>
              <a:t>+$1 行政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852160" y="435254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−$0.07 利潤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5 — 模型評估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模型表現如何？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965960" cy="1298448"/>
          </a:xfrm>
          <a:prstGeom prst="roundRect">
            <a:avLst>
              <a:gd name="adj" fmla="val 704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3560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CV R²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0.929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交叉驗證（最可靠）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1371600"/>
            <a:ext cx="1965960" cy="1298448"/>
          </a:xfrm>
          <a:prstGeom prst="roundRect">
            <a:avLst>
              <a:gd name="adj" fmla="val 704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43560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測試集 R²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169164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0.899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514600" y="22860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測試集表現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371600"/>
            <a:ext cx="1965960" cy="1298448"/>
          </a:xfrm>
          <a:prstGeom prst="roundRect">
            <a:avLst>
              <a:gd name="adj" fmla="val 704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43560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MAE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169164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$6,961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4617720" y="22860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平均預測誤差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20840" y="1371600"/>
            <a:ext cx="1965960" cy="1298448"/>
          </a:xfrm>
          <a:prstGeom prst="roundRect">
            <a:avLst>
              <a:gd name="adj" fmla="val 704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143560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RMSE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20840" y="169164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$9,056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6720840" y="22860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均方根誤差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8229600" cy="2011680"/>
        </p:xfrm>
        <a:graphic>
          <a:graphicData uri="http://schemas.openxmlformats.org/drawingml/2006/table">
            <a:tbl>
              <a:tblPr/>
              <a:tblGrid>
                <a:gridCol w="1463040"/>
                <a:gridCol w="1920240"/>
                <a:gridCol w="1737360"/>
                <a:gridCol w="1737360"/>
                <a:gridCol w="13716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指標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線性迴歸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Lasso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成功標準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達標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CV R²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0.9289 ± 0.044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0.9289 ± 0.044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≥ 0.90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</a:rPr>
                        <a:t>✓ 達標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測試 R²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0.8987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0.8987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優秀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$6,961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$6,961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≤ $10,000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</a:rPr>
                        <a:t>✓ 達標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RMSE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$9,056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$9,055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優秀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5 — 預測準確度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預測值 vs 實際值</a:t>
            </a:r>
            <a:endParaRPr lang="en-US" sz="3200" dirty="0"/>
          </a:p>
        </p:txBody>
      </p:sp>
      <p:pic>
        <p:nvPicPr>
          <p:cNvPr id="5" name="Image 0" descr="D:/RJH/github/Kaggle 50 startups_2/charts/04_actual_vs_predi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98448"/>
            <a:ext cx="5486400" cy="35021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0" y="1417320"/>
            <a:ext cx="2606040" cy="1024128"/>
          </a:xfrm>
          <a:prstGeom prst="roundRect">
            <a:avLst>
              <a:gd name="adj" fmla="val 892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0" y="1417320"/>
            <a:ext cx="2606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點越靠近對角線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預測越準確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7920" y="2633472"/>
            <a:ext cx="2606040" cy="1024128"/>
          </a:xfrm>
          <a:prstGeom prst="roundRect">
            <a:avLst>
              <a:gd name="adj" fmla="val 8929"/>
            </a:avLst>
          </a:prstGeom>
          <a:solidFill>
            <a:srgbClr val="F0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0" y="2633472"/>
            <a:ext cx="2606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兩模型預測點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幾乎完全重疊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0" y="3767328"/>
            <a:ext cx="2606040" cy="1024128"/>
          </a:xfrm>
          <a:prstGeom prst="roundRect">
            <a:avLst>
              <a:gd name="adj" fmla="val 8929"/>
            </a:avLst>
          </a:prstGeom>
          <a:solidFill>
            <a:srgbClr val="F0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0" y="3767328"/>
            <a:ext cx="2606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高利潤端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略有低估傾向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三大商業洞察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594360" cy="5943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78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05156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研發是利潤的最強驅動力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34440" y="14813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</a:rPr>
              <a:t>r = 0.97，幾乎完美線性關係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7373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</a:rPr>
              <a:t>每投入 $1 R&amp;D → 利潤增加 $0.81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993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</a:rPr>
              <a:t>建議優先投資研發密集型新創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58568"/>
            <a:ext cx="8412480" cy="0"/>
          </a:xfrm>
          <a:prstGeom prst="line">
            <a:avLst/>
          </a:prstGeom>
          <a:noFill/>
          <a:ln w="635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414016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140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38658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行政費用是隱性成本消耗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34440" y="28163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</a:rPr>
              <a:t>Administration 與利潤弱相關（r = 0.20）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307238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</a:rPr>
              <a:t>係數為負：每 $1 行政支出利潤 −$0.07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332841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</a:rPr>
              <a:t>應設定行政費用上限，優化運營效率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593592"/>
            <a:ext cx="8412480" cy="0"/>
          </a:xfrm>
          <a:prstGeom prst="line">
            <a:avLst/>
          </a:prstGeom>
          <a:noFill/>
          <a:ln w="635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74904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749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372160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地理位置影響力極小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234440" y="415137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</a:rPr>
              <a:t>三州（NY/CA/FL）利潤差異不顯著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440740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</a:rPr>
              <a:t>State 係數最小，接近零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4440" y="46634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</a:rPr>
              <a:t>選址應以市場與人才為主，非州別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投資行動建議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2743200" cy="2834640"/>
          </a:xfrm>
          <a:prstGeom prst="roundRect">
            <a:avLst>
              <a:gd name="adj" fmla="val 4000"/>
            </a:avLst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207008"/>
            <a:ext cx="749808" cy="7498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20700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20848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篩選標準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6072" y="2487168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優先選擇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R&amp;D 佔總支出比例高的新創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R&amp;D 比率愈高，利潤潛力愈強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743200" cy="2834640"/>
          </a:xfrm>
          <a:prstGeom prst="roundRect">
            <a:avLst>
              <a:gd name="adj" fmla="val 4000"/>
            </a:avLst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207008"/>
            <a:ext cx="749808" cy="7498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20700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91840" y="20848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盡職調查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56432" y="2487168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檢視行政費用佔比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超過 30% 須要求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管理層說明合理性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097280"/>
            <a:ext cx="2743200" cy="2834640"/>
          </a:xfrm>
          <a:prstGeom prst="roundRect">
            <a:avLst>
              <a:gd name="adj" fmla="val 4000"/>
            </a:avLst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8040" y="1207008"/>
            <a:ext cx="749808" cy="74980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120700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172200" y="20848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預測工具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36792" y="2487168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本模型 CV R² = 0.93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可快速估算新公司利潤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誤差範圍約 ±$7K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8229600" cy="0"/>
          </a:xfrm>
          <a:prstGeom prst="line">
            <a:avLst/>
          </a:prstGeom>
          <a:noFill/>
          <a:ln w="635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251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B4D0"/>
                </a:solidFill>
              </a:rPr>
              <a:t>完整分析報告與模型代碼：github.com/royruan1019/Kaggle-50-startups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4206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 Startups 利潤預測分析</dc:title>
  <dc:subject>PptxGenJS Presentation</dc:subject>
  <dc:creator>PptxGenJS</dc:creator>
  <cp:lastModifiedBy>PptxGenJS</cp:lastModifiedBy>
  <cp:revision>1</cp:revision>
  <dcterms:created xsi:type="dcterms:W3CDTF">2026-06-12T02:47:39Z</dcterms:created>
  <dcterms:modified xsi:type="dcterms:W3CDTF">2026-06-12T02:47:39Z</dcterms:modified>
</cp:coreProperties>
</file>